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6"/>
  </p:notesMasterIdLst>
  <p:sldIdLst>
    <p:sldId id="266" r:id="rId2"/>
    <p:sldId id="291" r:id="rId3"/>
    <p:sldId id="290" r:id="rId4"/>
    <p:sldId id="267" r:id="rId5"/>
    <p:sldId id="268" r:id="rId6"/>
    <p:sldId id="269" r:id="rId7"/>
    <p:sldId id="271" r:id="rId8"/>
    <p:sldId id="272" r:id="rId9"/>
    <p:sldId id="273" r:id="rId10"/>
    <p:sldId id="274" r:id="rId11"/>
    <p:sldId id="275" r:id="rId12"/>
    <p:sldId id="276" r:id="rId13"/>
    <p:sldId id="277" r:id="rId14"/>
    <p:sldId id="285" r:id="rId15"/>
    <p:sldId id="288" r:id="rId16"/>
    <p:sldId id="286" r:id="rId17"/>
    <p:sldId id="287" r:id="rId18"/>
    <p:sldId id="256" r:id="rId19"/>
    <p:sldId id="257" r:id="rId20"/>
    <p:sldId id="258" r:id="rId21"/>
    <p:sldId id="259" r:id="rId22"/>
    <p:sldId id="260" r:id="rId23"/>
    <p:sldId id="261" r:id="rId24"/>
    <p:sldId id="262" r:id="rId25"/>
    <p:sldId id="263" r:id="rId26"/>
    <p:sldId id="264" r:id="rId27"/>
    <p:sldId id="284" r:id="rId28"/>
    <p:sldId id="289" r:id="rId29"/>
    <p:sldId id="278" r:id="rId30"/>
    <p:sldId id="279" r:id="rId31"/>
    <p:sldId id="280" r:id="rId32"/>
    <p:sldId id="281" r:id="rId33"/>
    <p:sldId id="282" r:id="rId34"/>
    <p:sldId id="283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27"/>
    <p:restoredTop sz="94678"/>
  </p:normalViewPr>
  <p:slideViewPr>
    <p:cSldViewPr snapToGrid="0">
      <p:cViewPr varScale="1">
        <p:scale>
          <a:sx n="96" d="100"/>
          <a:sy n="96" d="100"/>
        </p:scale>
        <p:origin x="200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C1DE14-18ED-D344-8A94-8D6E1F722ED8}" type="datetimeFigureOut">
              <a:rPr lang="en-US" smtClean="0"/>
              <a:t>9/25/24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B2A6810-A7DA-294B-9783-D2454FFD60F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2370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The full form of </a:t>
            </a:r>
            <a:r>
              <a:rPr lang="en-IN" dirty="0" err="1"/>
              <a:t>sudo</a:t>
            </a:r>
            <a:r>
              <a:rPr lang="en-IN" dirty="0"/>
              <a:t> is </a:t>
            </a:r>
            <a:r>
              <a:rPr lang="en-IN" b="1" dirty="0"/>
              <a:t>"superuser do"</a:t>
            </a:r>
            <a:r>
              <a:rPr lang="en-IN" dirty="0"/>
              <a:t>.</a:t>
            </a:r>
          </a:p>
          <a:p>
            <a:r>
              <a:rPr lang="en-IN" dirty="0"/>
              <a:t>It is a command in Unix and Linux-based operating systems that allows a permitted user to execute a command as the superuser (also known as root) or another user with elevated privileges.</a:t>
            </a:r>
          </a:p>
          <a:p>
            <a:r>
              <a:rPr lang="en-IN" dirty="0"/>
              <a:t>In simple terms, </a:t>
            </a:r>
            <a:r>
              <a:rPr lang="en-IN" dirty="0" err="1"/>
              <a:t>sudo</a:t>
            </a:r>
            <a:r>
              <a:rPr lang="en-IN" dirty="0"/>
              <a:t> temporarily grants administrative permissions to execute specific tasks that normally require root access.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B2A6810-A7DA-294B-9783-D2454FFD60FA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2339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7AF094-E3D9-EAAF-7228-7C246B1FE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9B6E17-3EED-D38F-7B43-62D8E5F1E4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F06223-C98B-B122-DB19-83FC7692AD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C95DC-6688-3346-1D78-0E55CB593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99C6DA-A931-A7B5-26DC-15E6175794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68554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C139B-228F-3E38-7B5E-B7086C38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2906B0-163E-DABE-C7A7-05E028742D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4E1FD-DCCE-602F-6BC6-4BEFE0112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12AF5-73FB-14BB-27D4-9E22FD1DB7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128E7B-3DB5-5382-D639-F94D1C518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541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E47DC-5F2B-6021-29F9-615241C86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A79D93-B03B-BD1B-3409-50F2DE2F28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84119-9654-8137-E1F3-1EE237A12B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946D2-4FDF-8E81-0A8A-A2A6CC04E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E0830-4F2F-562D-A568-B832261523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1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53DDF-F9BA-8B36-58B7-00C0A54F23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60A0AF-38B0-F8B2-D7CC-0D3DD399CA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0400E96-7BC8-D37B-A9C1-2F1ECD8D4F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A2AC01D-66AE-D98A-1881-127384501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7B6BC2-2D08-BCD3-6E27-7A87DD0A07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F6DADC-7269-DB00-5DC8-0EF52C2B9A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196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12434-F2D2-CEA2-2E58-994E770D21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B5294C-E267-A43A-B9C2-F60915215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96445D-CD7A-D7F9-A192-EE304A46A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E6165E-33C7-7C3C-52F6-61822288F90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8D71888-6C70-598F-C3D7-BB3122ECD4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E8A67C-7425-D6A2-39E0-DCEF7A2EF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E2FB0A-E41D-DAA7-04FE-9EF9DD0D5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A291AC-8A73-B5E0-4805-7B48A20C0E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3465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18C86C-5207-984F-4C0B-517E784E3F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F09A94-CCAE-ECEC-F205-D53F64C5A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D9C4349-9495-DCB1-B414-C234DEF3B8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31F4ABE-57E4-79F7-CF24-783412643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359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47481-5CA2-6346-F003-2D65F08F3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E93596C-BA2D-D536-9F81-3AEF194E1D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8D4CFE-7C2D-0E83-36AA-AF7DFBE9D8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719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6DA4F8-BCB6-C7B2-DB9C-B263FB6630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0800C-67CE-A757-4584-84D22A6A51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F3C3968-6738-6B1D-E0D3-290E9E2123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B6B98A-D67A-B745-298F-51BDE243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1CC8A4-A56A-0DC0-3382-743838E6A6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C444D8-0434-D203-45D2-FF4D3A4756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5119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9EE338-D8EE-7516-FE30-F74B216C7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424D87-F913-5EFF-E8CA-398C0D01963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8629C7-5780-C91F-19D1-B604DA1EC45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5DF740-2AC8-DFDA-312D-BDFF26D52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9117E3-8EF1-0713-358B-053E52BCB9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DEA8740-EE0B-7222-DE5E-880906E67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95759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3539-6EC9-D36C-001E-D58165039D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14A8C2-5EA2-A435-1961-457ED78ABB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774AD6-0DB1-33D1-BF2D-8BE1C06F3C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D6C7AD-8F07-9E7F-294F-50FEC48692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080A3E-9FC3-18D5-0C25-0AC40A3404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660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558E90B-0B05-C1EF-54BD-A32DEB98CC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801402C-DF86-D85E-5333-59A1295164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1774B6-F77C-49E3-83E0-EF1CC3F000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7E4EA-4C45-27C7-2AD2-65727B9A79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491A6-6E17-6B62-589E-4DC78A727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849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4AAACE-F694-2103-616A-C5F863FC4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FE0D9E-FF56-CA12-33C3-4B3C0600F2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1CF448-8404-4672-A8AF-132FC423D28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C6E6B56-10E3-6348-BFFF-2543AFF2B7FC}" type="datetimeFigureOut">
              <a:rPr lang="en-US" smtClean="0"/>
              <a:t>9/25/24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0FEB513-62D4-8BCE-91A8-CEFE16AFDA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CFE789-E0E2-7C50-BA2D-0F58F6109C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76BCEA-F8EF-8A46-A824-1B2C41A4A6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61590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exstudio.org/" TargetMode="Externa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LaTeX - Simple English Wikipedia, the free encyclopedia">
            <a:extLst>
              <a:ext uri="{FF2B5EF4-FFF2-40B4-BE49-F238E27FC236}">
                <a16:creationId xmlns:a16="http://schemas.microsoft.com/office/drawing/2014/main" id="{EA9A5C8C-04AF-B3BA-F21B-CBFEAB07C4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765" y="1162878"/>
            <a:ext cx="12192000" cy="508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415509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1B92FB3-FA28-E6DC-C4FF-B410CC8E4B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954364"/>
            <a:ext cx="10515600" cy="2852737"/>
          </a:xfrm>
        </p:spPr>
        <p:txBody>
          <a:bodyPr/>
          <a:lstStyle/>
          <a:p>
            <a:r>
              <a:rPr lang="en-US" dirty="0"/>
              <a:t>Technical Writing using LaTeX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B86AF18-74FA-971D-E8B0-65F1C9696F8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Dr. Manoj Kumar M V</a:t>
            </a:r>
          </a:p>
          <a:p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Professor</a:t>
            </a:r>
          </a:p>
          <a:p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Department of Information Science and Engineering</a:t>
            </a:r>
          </a:p>
          <a:p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Nitte</a:t>
            </a:r>
            <a:r>
              <a:rPr lang="en-US" sz="2000" dirty="0">
                <a:solidFill>
                  <a:schemeClr val="tx2">
                    <a:lumMod val="75000"/>
                    <a:lumOff val="25000"/>
                  </a:schemeClr>
                </a:solidFill>
              </a:rPr>
              <a:t> Meenakshi Institute of Technology, </a:t>
            </a:r>
            <a:r>
              <a:rPr lang="en-US" sz="2000" dirty="0" err="1">
                <a:solidFill>
                  <a:schemeClr val="tx2">
                    <a:lumMod val="75000"/>
                    <a:lumOff val="25000"/>
                  </a:schemeClr>
                </a:solidFill>
              </a:rPr>
              <a:t>B’lore</a:t>
            </a:r>
            <a:endParaRPr lang="en-US" sz="2000" dirty="0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503610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6AFD-26A9-932A-2095-60361312D1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Repository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66BC7D-F083-3079-A2BB-1C09331864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https://</a:t>
            </a:r>
            <a:r>
              <a:rPr lang="en-US" dirty="0" err="1"/>
              <a:t>github.com</a:t>
            </a:r>
            <a:r>
              <a:rPr lang="en-US" dirty="0"/>
              <a:t>/manojmv24/AEC-Technical-Writing-using-LaTeX</a:t>
            </a:r>
          </a:p>
        </p:txBody>
      </p:sp>
    </p:spTree>
    <p:extLst>
      <p:ext uri="{BB962C8B-B14F-4D97-AF65-F5344CB8AC3E}">
        <p14:creationId xmlns:p14="http://schemas.microsoft.com/office/powerpoint/2010/main" val="2229065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323B9B-643B-C072-596A-C54E4EDC23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5174"/>
            <a:ext cx="10515600" cy="5101789"/>
          </a:xfrm>
        </p:spPr>
        <p:txBody>
          <a:bodyPr>
            <a:normAutofit lnSpcReduction="10000"/>
          </a:bodyPr>
          <a:lstStyle/>
          <a:p>
            <a:pPr marL="0" indent="0" algn="ctr">
              <a:lnSpc>
                <a:spcPct val="210000"/>
              </a:lnSpc>
              <a:buNone/>
            </a:pPr>
            <a:r>
              <a:rPr lang="en-IN" b="1" dirty="0"/>
              <a:t>LaTeX (pronounced as "Lah-tech" or "Lay-tech") </a:t>
            </a:r>
            <a:r>
              <a:rPr lang="en-IN" dirty="0"/>
              <a:t>is a document preparation system and typesetting program widely used for </a:t>
            </a:r>
            <a:r>
              <a:rPr lang="en-IN" b="1" dirty="0"/>
              <a:t>producing scientific </a:t>
            </a:r>
            <a:r>
              <a:rPr lang="en-IN" dirty="0"/>
              <a:t>and </a:t>
            </a:r>
            <a:r>
              <a:rPr lang="en-IN" b="1" dirty="0"/>
              <a:t>technical documents</a:t>
            </a:r>
            <a:r>
              <a:rPr lang="en-IN" dirty="0"/>
              <a:t>. It allows 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users to focus on the content</a:t>
            </a:r>
            <a:r>
              <a:rPr lang="en-IN" dirty="0"/>
              <a:t> of the document rather than its formatting by using </a:t>
            </a:r>
            <a:r>
              <a:rPr lang="en-IN" b="1" dirty="0">
                <a:solidFill>
                  <a:schemeClr val="tx2">
                    <a:lumMod val="75000"/>
                    <a:lumOff val="25000"/>
                  </a:schemeClr>
                </a:solidFill>
              </a:rPr>
              <a:t>predefined commands </a:t>
            </a:r>
            <a:r>
              <a:rPr lang="en-IN" dirty="0"/>
              <a:t>to structure text, format equations, and create complex documents.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5314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D9BAA5-D2D6-F72E-2586-D64AFD4286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 of LaTeX: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5A4FBB-95AF-5E3D-4750-33DAF23BF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b="1" dirty="0"/>
              <a:t>Typesetting for High-Quality Output</a:t>
            </a:r>
            <a:r>
              <a:rPr lang="en-IN" dirty="0"/>
              <a:t>: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LaTeX excels in producing beautifully formatted text, especially for documents with mathematical symbols, complex formulas, tables, and figures.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It generates professional-quality PDFs or other output formats.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8775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511C9-EF04-2DCC-E3DA-A024106428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69D76-ACB6-18A3-9CE3-ED7D031F42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 of LaTeX: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352505-15C8-EA52-E48A-6B5B11196D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Structured Document Creation</a:t>
            </a:r>
            <a:r>
              <a:rPr lang="en-IN" dirty="0"/>
              <a:t>: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LaTeX follows a logical approach to document structure. It uses commands to define sections, paragraphs, headings, lists, and more.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Documents are written using plain text, with commands to define the structure and formatting.</a:t>
            </a:r>
          </a:p>
        </p:txBody>
      </p:sp>
    </p:spTree>
    <p:extLst>
      <p:ext uri="{BB962C8B-B14F-4D97-AF65-F5344CB8AC3E}">
        <p14:creationId xmlns:p14="http://schemas.microsoft.com/office/powerpoint/2010/main" val="21472414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1954E3-01A4-3810-3BDF-F52CC1B7D2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5E8209-ACAE-C12A-1B51-6C0CC974C8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 of LaTeX: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45DC66-B9C7-43FA-173E-B66C98B70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Automated Formatting</a:t>
            </a:r>
            <a:r>
              <a:rPr lang="en-IN" dirty="0"/>
              <a:t>: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LaTeX takes care of formatting (such as font size, paragraph indentation, etc.) based on predefined document classes (e.g., article, book, report).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It handles bibliographies, cross-references, indexes, and tables of contents automatically.</a:t>
            </a:r>
          </a:p>
        </p:txBody>
      </p:sp>
    </p:spTree>
    <p:extLst>
      <p:ext uri="{BB962C8B-B14F-4D97-AF65-F5344CB8AC3E}">
        <p14:creationId xmlns:p14="http://schemas.microsoft.com/office/powerpoint/2010/main" val="17423917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976037-2F40-93B2-C91D-45A3742F3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 of LaTeX: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A0A75F-907F-38E6-7175-6941914A98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Extensive Mathematical Capabilities</a:t>
            </a:r>
            <a:r>
              <a:rPr lang="en-IN" dirty="0"/>
              <a:t>: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LaTeX is renowned for its ability to handle complex mathematical notation with ease. It’s the go-to tool for academics in fields like mathematics, physics, and engineering.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244890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3BD73C-3C1F-F55E-120C-FD45347B44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F63A7-5C53-6F13-AAB3-1B9930BA87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Key Features of LaTeX: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00B19-60BE-A639-64BB-CDBB37FD12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b="1" dirty="0"/>
              <a:t>Modularity with Packages</a:t>
            </a:r>
            <a:r>
              <a:rPr lang="en-IN" dirty="0"/>
              <a:t>:</a:t>
            </a:r>
          </a:p>
          <a:p>
            <a:pPr lvl="1">
              <a:lnSpc>
                <a:spcPct val="200000"/>
              </a:lnSpc>
            </a:pPr>
            <a:r>
              <a:rPr lang="en-IN" dirty="0"/>
              <a:t>LaTeX can be extended with various packages to add extra functionality, such as managing bibliographies (</a:t>
            </a:r>
            <a:r>
              <a:rPr lang="en-IN" dirty="0" err="1"/>
              <a:t>biblatex</a:t>
            </a:r>
            <a:r>
              <a:rPr lang="en-IN" dirty="0"/>
              <a:t>), including graphics (</a:t>
            </a:r>
            <a:r>
              <a:rPr lang="en-IN" dirty="0" err="1"/>
              <a:t>graphicx</a:t>
            </a:r>
            <a:r>
              <a:rPr lang="en-IN" dirty="0"/>
              <a:t>), or creating presentations (beamer).</a:t>
            </a:r>
          </a:p>
        </p:txBody>
      </p:sp>
    </p:spTree>
    <p:extLst>
      <p:ext uri="{BB962C8B-B14F-4D97-AF65-F5344CB8AC3E}">
        <p14:creationId xmlns:p14="http://schemas.microsoft.com/office/powerpoint/2010/main" val="39191113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65653-8AE2-D3FE-0EF1-0748CDFF1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2D2E2-5073-99FD-EC0C-C5F666EF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How LaTeX Works: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8EE72-DD24-755B-54AF-E7F38A30AB1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Source Code</a:t>
            </a:r>
            <a:r>
              <a:rPr lang="en-IN" sz="2400" dirty="0"/>
              <a:t>: You write LaTeX documents in a .</a:t>
            </a:r>
            <a:r>
              <a:rPr lang="en-IN" sz="2400" dirty="0" err="1"/>
              <a:t>tex</a:t>
            </a:r>
            <a:r>
              <a:rPr lang="en-IN" sz="2400" dirty="0"/>
              <a:t> file using plain text with LaTeX commands.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sz="2400" b="1" dirty="0"/>
              <a:t>Compilation</a:t>
            </a:r>
            <a:r>
              <a:rPr lang="en-IN" sz="2400" dirty="0"/>
              <a:t>: The .</a:t>
            </a:r>
            <a:r>
              <a:rPr lang="en-IN" sz="2400" dirty="0" err="1"/>
              <a:t>tex</a:t>
            </a:r>
            <a:r>
              <a:rPr lang="en-IN" sz="2400" dirty="0"/>
              <a:t> file is then compiled by a LaTeX engine (such as </a:t>
            </a:r>
            <a:r>
              <a:rPr lang="en-IN" sz="2400" dirty="0" err="1"/>
              <a:t>TeX</a:t>
            </a:r>
            <a:r>
              <a:rPr lang="en-IN" sz="2400" dirty="0"/>
              <a:t> Live) into an output file (usually PDF).</a:t>
            </a:r>
          </a:p>
        </p:txBody>
      </p:sp>
    </p:spTree>
    <p:extLst>
      <p:ext uri="{BB962C8B-B14F-4D97-AF65-F5344CB8AC3E}">
        <p14:creationId xmlns:p14="http://schemas.microsoft.com/office/powerpoint/2010/main" val="40969155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339259-759F-20E6-16DC-33937FA86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A8FE05-1834-F59E-4091-B4FFF037E9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anchor="b">
            <a:normAutofit/>
          </a:bodyPr>
          <a:lstStyle/>
          <a:p>
            <a:r>
              <a:rPr lang="en-IN" sz="5400" b="1"/>
              <a:t>How LaTeX Works: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885AE9-CC55-7246-18DD-9C96374C6D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807208"/>
            <a:ext cx="3429000" cy="3410712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IN" dirty="0"/>
              <a:t>Example of LaTeX code: </a:t>
            </a:r>
          </a:p>
          <a:p>
            <a:pPr marL="0" indent="0">
              <a:buNone/>
            </a:pPr>
            <a:r>
              <a:rPr lang="en-IN" dirty="0"/>
              <a:t>This will generate a PDF with a formatted title "Introduction" and some basic text.</a:t>
            </a:r>
          </a:p>
        </p:txBody>
      </p:sp>
      <p:pic>
        <p:nvPicPr>
          <p:cNvPr id="7" name="Picture 6" descr="A black screen with white text&#10;&#10;Description automatically generated">
            <a:extLst>
              <a:ext uri="{FF2B5EF4-FFF2-40B4-BE49-F238E27FC236}">
                <a16:creationId xmlns:a16="http://schemas.microsoft.com/office/drawing/2014/main" id="{F38EA7FE-786C-0B9D-8429-4D05268A82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677182"/>
            <a:ext cx="6903720" cy="350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9328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15B06A-062F-4F1D-14BB-7B8BD8F9B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Common Uses of LaTeX: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5A81A5-8E8A-A4FB-E69D-CF8B4EE91B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Academic papers</a:t>
            </a:r>
            <a:r>
              <a:rPr lang="en-IN" dirty="0"/>
              <a:t>: Journals and conferences often require submissions in LaTeX.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Books and Theses</a:t>
            </a:r>
            <a:r>
              <a:rPr lang="en-IN" dirty="0"/>
              <a:t>: LaTeX is ideal for large documents with complex structures.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Presentations</a:t>
            </a:r>
            <a:r>
              <a:rPr lang="en-IN" dirty="0"/>
              <a:t>: LaTeX can be used to create high-quality presentations using packages like beamer.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Mathematical and Scientific Notation</a:t>
            </a:r>
            <a:r>
              <a:rPr lang="en-IN" dirty="0"/>
              <a:t>: LaTeX is highly preferred for writing papers involving complex equations and symbols.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77440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3B3609-EFF3-9FED-ECCC-B4F56AFB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Why Use LaTeX?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95150-EC41-1E30-8767-4580E278D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Consistency and Quality</a:t>
            </a:r>
            <a:r>
              <a:rPr lang="en-IN" dirty="0"/>
              <a:t>: LaTeX ensures consistent formatting across the document and produces a professional-quality output.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Mathematical Precision</a:t>
            </a:r>
            <a:r>
              <a:rPr lang="en-IN" dirty="0"/>
              <a:t>: It provides excellent tools for precise typesetting of mathematical equations.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Automation</a:t>
            </a:r>
            <a:r>
              <a:rPr lang="en-IN" dirty="0"/>
              <a:t>: It can automatically handle bibliographies, citations, numbering of figures/tables, and cross-referencing.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b="1" dirty="0"/>
              <a:t>Customization</a:t>
            </a:r>
            <a:r>
              <a:rPr lang="en-IN" dirty="0"/>
              <a:t>: Users can customize or extend LaTeX's capabilities with packages to meet specific needs.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604845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Linux - Wikipedia">
            <a:extLst>
              <a:ext uri="{FF2B5EF4-FFF2-40B4-BE49-F238E27FC236}">
                <a16:creationId xmlns:a16="http://schemas.microsoft.com/office/drawing/2014/main" id="{6ADEC032-2C2F-DA79-F0DD-29AE504C7E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1988" y="0"/>
            <a:ext cx="57880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1442308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5" name="Rectangle 7174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7170" name="Picture 2" descr="Linux Distro. Linux distributions include the Linux… | by  Kirushikan__ketheeswaran | Medium">
            <a:extLst>
              <a:ext uri="{FF2B5EF4-FFF2-40B4-BE49-F238E27FC236}">
                <a16:creationId xmlns:a16="http://schemas.microsoft.com/office/drawing/2014/main" id="{59E0CD5A-BA71-3A41-7025-219E71D8E9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163" r="4932" b="1"/>
          <a:stretch/>
        </p:blipFill>
        <p:spPr bwMode="auto">
          <a:xfrm>
            <a:off x="20" y="1282"/>
            <a:ext cx="12191980" cy="6856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94420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Ubuntu Logo and symbol, meaning, history, PNG, brand">
            <a:extLst>
              <a:ext uri="{FF2B5EF4-FFF2-40B4-BE49-F238E27FC236}">
                <a16:creationId xmlns:a16="http://schemas.microsoft.com/office/drawing/2014/main" id="{F752A10A-12D3-19E3-D5E3-47F18AFC68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000" y="558800"/>
            <a:ext cx="10160000" cy="574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7840417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Linux Ubuntu Logo Png, Transparent Png - vhv">
            <a:extLst>
              <a:ext uri="{FF2B5EF4-FFF2-40B4-BE49-F238E27FC236}">
                <a16:creationId xmlns:a16="http://schemas.microsoft.com/office/drawing/2014/main" id="{A745A753-2D5D-FDF1-C071-51C6A9C940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5025" y="0"/>
            <a:ext cx="7980363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18677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2E1856CC-A40B-D77A-A616-44900C417C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7016" y="2093015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TeX Live · GitHub">
            <a:extLst>
              <a:ext uri="{FF2B5EF4-FFF2-40B4-BE49-F238E27FC236}">
                <a16:creationId xmlns:a16="http://schemas.microsoft.com/office/drawing/2014/main" id="{F50BE2A2-A7D1-F487-83DC-3F2EF0F522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48226" y="2093015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5986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4BC63-F6FE-5DF5-23EC-A3A190B270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1: Update the System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D6F519-3682-165B-3584-3C8C62D2BE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dirty="0"/>
              <a:t>Before installing any software, it is always a good idea to update your package lists. </a:t>
            </a:r>
          </a:p>
          <a:p>
            <a:pPr algn="just"/>
            <a:r>
              <a:rPr lang="en-IN" dirty="0"/>
              <a:t>Open the terminal and type the following command:</a:t>
            </a:r>
          </a:p>
          <a:p>
            <a:pPr marL="0" indent="0" algn="ctr">
              <a:buNone/>
            </a:pPr>
            <a:r>
              <a:rPr lang="en-US" dirty="0" err="1"/>
              <a:t>sudo</a:t>
            </a:r>
            <a:r>
              <a:rPr lang="en-US" dirty="0"/>
              <a:t> apt update</a:t>
            </a:r>
          </a:p>
          <a:p>
            <a:pPr marL="0" indent="0" algn="ctr">
              <a:buNone/>
            </a:pPr>
            <a:r>
              <a:rPr lang="en-US" dirty="0" err="1"/>
              <a:t>sudo</a:t>
            </a:r>
            <a:r>
              <a:rPr lang="en-US" dirty="0"/>
              <a:t> apt upgrade</a:t>
            </a:r>
          </a:p>
          <a:p>
            <a:r>
              <a:rPr lang="en-IN" dirty="0"/>
              <a:t>This will ensure your system is up to date.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55700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FEF80-3F15-F791-58FA-7AEE617618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Install </a:t>
            </a:r>
            <a:r>
              <a:rPr lang="en-IN" dirty="0" err="1"/>
              <a:t>TeX</a:t>
            </a:r>
            <a:r>
              <a:rPr lang="en-IN" dirty="0"/>
              <a:t> Live (LaTeX Distribution)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582D73-873E-9C26-2964-F6DF170DC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TeX</a:t>
            </a:r>
            <a:r>
              <a:rPr lang="en-IN" dirty="0"/>
              <a:t> Live is a comprehensive LaTeX distribution. You can install it with the following command:</a:t>
            </a:r>
          </a:p>
          <a:p>
            <a:endParaRPr lang="en-IN" dirty="0"/>
          </a:p>
          <a:p>
            <a:pPr marL="0" indent="0" algn="ctr">
              <a:buNone/>
            </a:pPr>
            <a:r>
              <a:rPr lang="en-IN" dirty="0" err="1"/>
              <a:t>sudo</a:t>
            </a:r>
            <a:r>
              <a:rPr lang="en-IN" dirty="0"/>
              <a:t> apt install </a:t>
            </a:r>
            <a:r>
              <a:rPr lang="en-IN" dirty="0" err="1"/>
              <a:t>texlive</a:t>
            </a:r>
            <a:r>
              <a:rPr lang="en-IN" dirty="0"/>
              <a:t>-full</a:t>
            </a:r>
          </a:p>
          <a:p>
            <a:pPr marL="0" indent="0" algn="ctr">
              <a:buNone/>
            </a:pPr>
            <a:endParaRPr lang="en-IN" dirty="0"/>
          </a:p>
          <a:p>
            <a:r>
              <a:rPr lang="en-IN" dirty="0"/>
              <a:t>This command will install the complete </a:t>
            </a:r>
            <a:r>
              <a:rPr lang="en-IN" dirty="0" err="1"/>
              <a:t>TeX</a:t>
            </a:r>
            <a:r>
              <a:rPr lang="en-IN" dirty="0"/>
              <a:t> Live distribution, which includes all the LaTeX packages, fonts, and utilities you will need. It might take a while, as the package is large.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873850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B126BA-3BF8-FB98-CE02-3D292C3A6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7162F-1C9F-9F76-EFBA-472EED6957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2: Install </a:t>
            </a:r>
            <a:r>
              <a:rPr lang="en-IN" dirty="0" err="1"/>
              <a:t>TeX</a:t>
            </a:r>
            <a:r>
              <a:rPr lang="en-IN" dirty="0"/>
              <a:t> Live (LaTeX Distribution)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1F5233-C6F8-465E-1135-0EB6725443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If you want a smaller installation, you can use the following command to install only the basic LaTeX packages:</a:t>
            </a:r>
          </a:p>
          <a:p>
            <a:endParaRPr lang="en-IN" dirty="0"/>
          </a:p>
          <a:p>
            <a:pPr marL="0" indent="0" algn="ctr">
              <a:buNone/>
            </a:pPr>
            <a:r>
              <a:rPr lang="en-US" dirty="0" err="1"/>
              <a:t>sudo</a:t>
            </a:r>
            <a:r>
              <a:rPr lang="en-US" dirty="0"/>
              <a:t> apt install </a:t>
            </a:r>
            <a:r>
              <a:rPr lang="en-US" dirty="0" err="1"/>
              <a:t>texlive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72414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FF991-645E-C392-5782-825C60912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3: Install </a:t>
            </a:r>
            <a:r>
              <a:rPr lang="en-IN" dirty="0" err="1"/>
              <a:t>TeXstudio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455272-9A2E-E7D2-99A9-62F5C1DFB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200000"/>
              </a:lnSpc>
            </a:pPr>
            <a:r>
              <a:rPr lang="en-IN" dirty="0" err="1"/>
              <a:t>TeXstudio</a:t>
            </a:r>
            <a:r>
              <a:rPr lang="en-IN" dirty="0"/>
              <a:t> is a popular LaTeX editor. To install it, run the following command:</a:t>
            </a:r>
          </a:p>
          <a:p>
            <a:endParaRPr lang="en-IN" dirty="0"/>
          </a:p>
          <a:p>
            <a:pPr marL="0" indent="0" algn="ctr">
              <a:buNone/>
            </a:pPr>
            <a:r>
              <a:rPr lang="en-IN" dirty="0" err="1"/>
              <a:t>sudo</a:t>
            </a:r>
            <a:r>
              <a:rPr lang="en-IN" dirty="0"/>
              <a:t> apt install </a:t>
            </a:r>
            <a:r>
              <a:rPr lang="en-IN" dirty="0" err="1"/>
              <a:t>texstudio</a:t>
            </a:r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65128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5C1B2-B57E-E7D2-AD73-D7D954FE8A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4: Verify the Installation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CD98D-B188-6615-EAD2-05F98CDDB2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Once the installation is complete, you can verify it by running </a:t>
            </a:r>
            <a:r>
              <a:rPr lang="en-IN" dirty="0" err="1"/>
              <a:t>TeXstudio</a:t>
            </a:r>
            <a:r>
              <a:rPr lang="en-IN" dirty="0"/>
              <a:t> from the terminal or searching for it in your application menu.</a:t>
            </a:r>
          </a:p>
          <a:p>
            <a:r>
              <a:rPr lang="en-IN" dirty="0"/>
              <a:t>To launch </a:t>
            </a:r>
            <a:r>
              <a:rPr lang="en-IN" dirty="0" err="1"/>
              <a:t>TeXstudio</a:t>
            </a:r>
            <a:r>
              <a:rPr lang="en-IN" dirty="0"/>
              <a:t> from the terminal:</a:t>
            </a:r>
          </a:p>
          <a:p>
            <a:endParaRPr lang="en-IN" dirty="0"/>
          </a:p>
          <a:p>
            <a:pPr marL="0" indent="0" algn="ctr">
              <a:buNone/>
            </a:pPr>
            <a:r>
              <a:rPr lang="en-IN" dirty="0" err="1"/>
              <a:t>texstudio</a:t>
            </a:r>
            <a:endParaRPr lang="en-IN" dirty="0"/>
          </a:p>
          <a:p>
            <a:endParaRPr lang="en-IN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606262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E14E0-7594-1B0F-3815-55382B91CD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5: Configure </a:t>
            </a:r>
            <a:r>
              <a:rPr lang="en-IN" dirty="0" err="1"/>
              <a:t>TeXstudio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9729C-FE26-FAEC-61D3-32830F1AD3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400" b="1" dirty="0"/>
              <a:t>Open </a:t>
            </a:r>
            <a:r>
              <a:rPr lang="en-IN" sz="2400" b="1" dirty="0" err="1"/>
              <a:t>TeXstudio</a:t>
            </a:r>
            <a:r>
              <a:rPr lang="en-IN" sz="2400" dirty="0"/>
              <a:t>: Once you have </a:t>
            </a:r>
            <a:r>
              <a:rPr lang="en-IN" sz="2400" dirty="0" err="1"/>
              <a:t>TeXstudio</a:t>
            </a:r>
            <a:r>
              <a:rPr lang="en-IN" sz="2400" dirty="0"/>
              <a:t> running, you may want to configure it to use the LaTeX distribution.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Go to Options</a:t>
            </a:r>
            <a:r>
              <a:rPr lang="en-IN" sz="2400" dirty="0"/>
              <a:t> →</a:t>
            </a:r>
            <a:r>
              <a:rPr lang="en-IN" sz="2400" b="1" dirty="0"/>
              <a:t>Configure </a:t>
            </a:r>
            <a:r>
              <a:rPr lang="en-IN" sz="2400" b="1" dirty="0" err="1"/>
              <a:t>TeXstudio</a:t>
            </a:r>
            <a:r>
              <a:rPr lang="en-IN" sz="2400" dirty="0"/>
              <a:t>.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Check LaTeX Compiler</a:t>
            </a:r>
            <a:r>
              <a:rPr lang="en-IN" sz="2400" dirty="0"/>
              <a:t>: In the 'Build' section, make sure that the path to </a:t>
            </a:r>
            <a:r>
              <a:rPr lang="en-IN" sz="2400" dirty="0" err="1"/>
              <a:t>pdflatex</a:t>
            </a:r>
            <a:r>
              <a:rPr lang="en-IN" sz="2400" dirty="0"/>
              <a:t> is set correctly (usually, it will detect </a:t>
            </a:r>
            <a:r>
              <a:rPr lang="en-IN" sz="2400" dirty="0" err="1"/>
              <a:t>TeX</a:t>
            </a:r>
            <a:r>
              <a:rPr lang="en-IN" sz="2400" dirty="0"/>
              <a:t> Live automatically).</a:t>
            </a:r>
          </a:p>
          <a:p>
            <a:pPr>
              <a:lnSpc>
                <a:spcPct val="150000"/>
              </a:lnSpc>
            </a:pPr>
            <a:r>
              <a:rPr lang="en-IN" sz="2400" b="1" dirty="0"/>
              <a:t>Quick Build Command</a:t>
            </a:r>
            <a:r>
              <a:rPr lang="en-IN" sz="2400" dirty="0"/>
              <a:t>: Set the Quick Build command to </a:t>
            </a:r>
            <a:r>
              <a:rPr lang="en-IN" sz="2400" dirty="0" err="1"/>
              <a:t>PdfLaTeX</a:t>
            </a:r>
            <a:r>
              <a:rPr lang="en-IN" sz="2400" dirty="0"/>
              <a:t> + View PDF for a basic LaTeX workflow.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01072315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547A8-EB85-C981-44E8-CB3C76C393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6: Test the Installation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FA1796-2FB4-51BB-D1C1-1E029196BC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Create a new document in </a:t>
            </a:r>
            <a:r>
              <a:rPr lang="en-IN" dirty="0" err="1"/>
              <a:t>TeXstudio</a:t>
            </a:r>
            <a:r>
              <a:rPr lang="en-IN" dirty="0"/>
              <a:t> by going to </a:t>
            </a:r>
            <a:r>
              <a:rPr lang="en-IN" b="1" dirty="0"/>
              <a:t>File</a:t>
            </a:r>
            <a:r>
              <a:rPr lang="en-IN" dirty="0"/>
              <a:t> → </a:t>
            </a:r>
            <a:r>
              <a:rPr lang="en-IN" b="1" dirty="0"/>
              <a:t>New</a:t>
            </a:r>
            <a:r>
              <a:rPr lang="en-IN" dirty="0"/>
              <a:t>.</a:t>
            </a:r>
          </a:p>
          <a:p>
            <a:r>
              <a:rPr lang="en-IN" dirty="0"/>
              <a:t>Copy and paste this simple LaTeX code into the editor:</a:t>
            </a:r>
          </a:p>
          <a:p>
            <a:endParaRPr lang="en-IN" dirty="0"/>
          </a:p>
          <a:p>
            <a:pPr marL="0" indent="0">
              <a:buNone/>
            </a:pPr>
            <a:r>
              <a:rPr lang="en-IN" dirty="0"/>
              <a:t>\</a:t>
            </a:r>
            <a:r>
              <a:rPr lang="en-IN" dirty="0" err="1"/>
              <a:t>documentclass</a:t>
            </a:r>
            <a:r>
              <a:rPr lang="en-IN" dirty="0"/>
              <a:t>{article} </a:t>
            </a:r>
          </a:p>
          <a:p>
            <a:pPr marL="0" indent="0">
              <a:buNone/>
            </a:pPr>
            <a:r>
              <a:rPr lang="en-IN" dirty="0"/>
              <a:t>\begin{document} </a:t>
            </a:r>
          </a:p>
          <a:p>
            <a:pPr marL="0" indent="0">
              <a:buNone/>
            </a:pPr>
            <a:r>
              <a:rPr lang="en-IN" dirty="0"/>
              <a:t>Hello, LaTeX! </a:t>
            </a:r>
          </a:p>
          <a:p>
            <a:pPr marL="0" indent="0">
              <a:buNone/>
            </a:pPr>
            <a:r>
              <a:rPr lang="en-IN" dirty="0"/>
              <a:t>\end{document}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20188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C5A238-9BB2-9D41-F559-90D657E730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B2834-A506-939A-248D-7EC5890A62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Step 6: Test the Installation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C703D-51B2-9170-934E-2CB4E3369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>
              <a:lnSpc>
                <a:spcPct val="200000"/>
              </a:lnSpc>
              <a:buFont typeface="+mj-lt"/>
              <a:buAutoNum type="arabicPeriod" startAt="3"/>
            </a:pPr>
            <a:r>
              <a:rPr lang="en-IN" dirty="0"/>
              <a:t>Save the document with a .</a:t>
            </a:r>
            <a:r>
              <a:rPr lang="en-IN" dirty="0" err="1"/>
              <a:t>tex</a:t>
            </a:r>
            <a:r>
              <a:rPr lang="en-IN" dirty="0"/>
              <a:t> extension (e.g., </a:t>
            </a:r>
            <a:r>
              <a:rPr lang="en-IN" dirty="0" err="1"/>
              <a:t>hello.tex</a:t>
            </a:r>
            <a:r>
              <a:rPr lang="en-IN" dirty="0"/>
              <a:t>).</a:t>
            </a:r>
          </a:p>
          <a:p>
            <a:pPr>
              <a:lnSpc>
                <a:spcPct val="200000"/>
              </a:lnSpc>
              <a:buFont typeface="+mj-lt"/>
              <a:buAutoNum type="arabicPeriod" startAt="3"/>
            </a:pPr>
            <a:r>
              <a:rPr lang="en-IN" dirty="0"/>
              <a:t>Press </a:t>
            </a:r>
            <a:r>
              <a:rPr lang="en-IN" b="1" dirty="0"/>
              <a:t>F5</a:t>
            </a:r>
            <a:r>
              <a:rPr lang="en-IN" dirty="0"/>
              <a:t> or click on the 'Build &amp; View' button to compile and view the PDF.’</a:t>
            </a:r>
          </a:p>
          <a:p>
            <a:pPr>
              <a:lnSpc>
                <a:spcPct val="200000"/>
              </a:lnSpc>
              <a:buFont typeface="+mj-lt"/>
              <a:buAutoNum type="arabicPeriod" startAt="3"/>
            </a:pPr>
            <a:r>
              <a:rPr lang="en-IN" dirty="0"/>
              <a:t>If everything is installed correctly, you should see a PDF file displaying "Hello, LaTeX!"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09627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 descr="Windows">
            <a:extLst>
              <a:ext uri="{FF2B5EF4-FFF2-40B4-BE49-F238E27FC236}">
                <a16:creationId xmlns:a16="http://schemas.microsoft.com/office/drawing/2014/main" id="{D52FC5A9-3D06-D15F-CC44-817B159563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7250" y="20002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457892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 descr="MiKTeX v2.9 Crack Free 23.40 Version + Portable 2024 Download">
            <a:extLst>
              <a:ext uri="{FF2B5EF4-FFF2-40B4-BE49-F238E27FC236}">
                <a16:creationId xmlns:a16="http://schemas.microsoft.com/office/drawing/2014/main" id="{583C4996-4A6C-56E5-67A8-D9415925E2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4679" y="1803400"/>
            <a:ext cx="3251200" cy="3251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25F771CC-C3CB-697B-EB2C-60681A0347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123" y="2000250"/>
            <a:ext cx="2857500" cy="285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687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7C233-D7DB-3088-624F-0F5A61F56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Step 1: Download and Install </a:t>
            </a:r>
            <a:r>
              <a:rPr lang="en-IN" b="1" dirty="0" err="1"/>
              <a:t>MiKTeX</a:t>
            </a:r>
            <a:r>
              <a:rPr lang="en-IN" b="1" dirty="0"/>
              <a:t> (LaTeX Distribution)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55C6BE-CFBF-7253-E95D-9B6D0400D2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 err="1"/>
              <a:t>MiKTeX</a:t>
            </a:r>
            <a:r>
              <a:rPr lang="en-IN" sz="2000" dirty="0"/>
              <a:t> is a popular LaTeX distribution for Windows. It includes all the necessary tools to compile LaTeX documents.</a:t>
            </a:r>
          </a:p>
          <a:p>
            <a:pPr>
              <a:buFont typeface="+mj-lt"/>
              <a:buAutoNum type="arabicPeriod"/>
            </a:pPr>
            <a:r>
              <a:rPr lang="en-IN" sz="2000" b="1" dirty="0"/>
              <a:t>Go to the </a:t>
            </a:r>
            <a:r>
              <a:rPr lang="en-IN" sz="2000" b="1" dirty="0" err="1"/>
              <a:t>MiKTeX</a:t>
            </a:r>
            <a:r>
              <a:rPr lang="en-IN" sz="2000" b="1" dirty="0"/>
              <a:t> website</a:t>
            </a:r>
            <a:r>
              <a:rPr lang="en-IN" sz="2000" dirty="0"/>
              <a:t>:</a:t>
            </a:r>
            <a:br>
              <a:rPr lang="en-IN" sz="2000" dirty="0"/>
            </a:br>
            <a:r>
              <a:rPr lang="en-IN" sz="2000" dirty="0"/>
              <a:t>Visit https://</a:t>
            </a:r>
            <a:r>
              <a:rPr lang="en-IN" sz="2000" dirty="0" err="1"/>
              <a:t>miktex.org</a:t>
            </a:r>
            <a:r>
              <a:rPr lang="en-IN" sz="2000" dirty="0"/>
              <a:t>/download and download the installer for Windows.</a:t>
            </a:r>
          </a:p>
          <a:p>
            <a:pPr>
              <a:buFont typeface="+mj-lt"/>
              <a:buAutoNum type="arabicPeriod"/>
            </a:pPr>
            <a:r>
              <a:rPr lang="en-IN" sz="2000" b="1" dirty="0"/>
              <a:t>Run the Installer</a:t>
            </a:r>
            <a:r>
              <a:rPr lang="en-IN" sz="2000" dirty="0"/>
              <a:t>:</a:t>
            </a:r>
            <a:br>
              <a:rPr lang="en-IN" sz="2000" dirty="0"/>
            </a:br>
            <a:r>
              <a:rPr lang="en-IN" sz="2000" dirty="0"/>
              <a:t>After downloading, run the </a:t>
            </a:r>
            <a:r>
              <a:rPr lang="en-IN" sz="2000" dirty="0" err="1"/>
              <a:t>MiKTeX</a:t>
            </a:r>
            <a:r>
              <a:rPr lang="en-IN" sz="2000" dirty="0"/>
              <a:t> installer (.exe file) and follow the on-screen instructions: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800" dirty="0"/>
              <a:t>Select the installation folder.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800" dirty="0"/>
              <a:t>Choose whether to install </a:t>
            </a:r>
            <a:r>
              <a:rPr lang="en-IN" sz="1800" dirty="0" err="1"/>
              <a:t>MiKTeX</a:t>
            </a:r>
            <a:r>
              <a:rPr lang="en-IN" sz="1800" dirty="0"/>
              <a:t> for "Only for me" or "Anyone who uses this computer."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1800" dirty="0"/>
              <a:t>Make sure to enable the option for </a:t>
            </a:r>
            <a:r>
              <a:rPr lang="en-IN" sz="1800" dirty="0" err="1"/>
              <a:t>MiKTeX</a:t>
            </a:r>
            <a:r>
              <a:rPr lang="en-IN" sz="1800" dirty="0"/>
              <a:t> to install missing packages on the fly (recommended).</a:t>
            </a:r>
          </a:p>
          <a:p>
            <a:pPr>
              <a:buFont typeface="+mj-lt"/>
              <a:buAutoNum type="arabicPeriod"/>
            </a:pPr>
            <a:r>
              <a:rPr lang="en-IN" sz="2000" b="1" dirty="0"/>
              <a:t>Complete the Installation</a:t>
            </a:r>
            <a:r>
              <a:rPr lang="en-IN" sz="2000" dirty="0"/>
              <a:t>:</a:t>
            </a:r>
            <a:br>
              <a:rPr lang="en-IN" sz="2000" dirty="0"/>
            </a:br>
            <a:r>
              <a:rPr lang="en-IN" sz="2000" dirty="0"/>
              <a:t>Once the installation is complete, </a:t>
            </a:r>
            <a:r>
              <a:rPr lang="en-IN" sz="2000" dirty="0" err="1"/>
              <a:t>MiKTeX</a:t>
            </a:r>
            <a:r>
              <a:rPr lang="en-IN" sz="2000" dirty="0"/>
              <a:t> will be ready to use. It may ask to update the package database during installation—accept this option if prompted.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569141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8909-E3DF-38E4-7643-A7BAA292E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Step 2: Download and Install </a:t>
            </a:r>
            <a:r>
              <a:rPr lang="en-IN" b="1" dirty="0" err="1"/>
              <a:t>TeXstudio</a:t>
            </a:r>
            <a:r>
              <a:rPr lang="en-IN" b="1" dirty="0"/>
              <a:t> (LaTeX Editor)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DCDD7D-6579-A8B3-81E1-675CBEC5EC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b="1" dirty="0" err="1"/>
              <a:t>TeXstudio</a:t>
            </a:r>
            <a:r>
              <a:rPr lang="en-IN" dirty="0"/>
              <a:t> is a LaTeX editor that provides a user-friendly interface for writing LaTeX documents.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Go to the </a:t>
            </a:r>
            <a:r>
              <a:rPr lang="en-IN" b="1" dirty="0" err="1"/>
              <a:t>TeXstudio</a:t>
            </a:r>
            <a:r>
              <a:rPr lang="en-IN" b="1" dirty="0"/>
              <a:t> website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Visit </a:t>
            </a:r>
            <a:r>
              <a:rPr lang="en-IN" dirty="0">
                <a:hlinkClick r:id="rId2"/>
              </a:rPr>
              <a:t>https://www.texstudio.org</a:t>
            </a:r>
            <a:r>
              <a:rPr lang="en-IN" dirty="0"/>
              <a:t> and download the Windows installer.</a:t>
            </a:r>
          </a:p>
          <a:p>
            <a:pPr>
              <a:buFont typeface="+mj-lt"/>
              <a:buAutoNum type="arabicPeriod"/>
            </a:pPr>
            <a:r>
              <a:rPr lang="en-IN" b="1" dirty="0"/>
              <a:t>Run the Installer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Run the </a:t>
            </a:r>
            <a:r>
              <a:rPr lang="en-IN" dirty="0" err="1"/>
              <a:t>TeXstudio</a:t>
            </a:r>
            <a:r>
              <a:rPr lang="en-IN" dirty="0"/>
              <a:t> installer and follow the setup wizard: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Accept the default installation options.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dirty="0"/>
              <a:t>Choose the installation folder and complete the setup.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8923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55BEE-A150-FC26-6A78-EB8C14493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 3: Configure </a:t>
            </a:r>
            <a:r>
              <a:rPr lang="en-IN" b="1" dirty="0" err="1"/>
              <a:t>TeXstudio</a:t>
            </a:r>
            <a:r>
              <a:rPr lang="en-IN" b="1" dirty="0"/>
              <a:t> with </a:t>
            </a:r>
            <a:r>
              <a:rPr lang="en-IN" b="1" dirty="0" err="1"/>
              <a:t>MiKTeX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3807F3-4AC2-ED80-925D-5F1D2718C4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+mj-lt"/>
              <a:buAutoNum type="arabicPeriod"/>
            </a:pPr>
            <a:r>
              <a:rPr lang="en-IN" sz="2400" b="1" dirty="0"/>
              <a:t>Open </a:t>
            </a:r>
            <a:r>
              <a:rPr lang="en-IN" sz="2400" b="1" dirty="0" err="1"/>
              <a:t>TeXstudio</a:t>
            </a:r>
            <a:r>
              <a:rPr lang="en-IN" sz="2400" dirty="0"/>
              <a:t>:</a:t>
            </a:r>
            <a:br>
              <a:rPr lang="en-IN" sz="2400" dirty="0"/>
            </a:br>
            <a:r>
              <a:rPr lang="en-IN" sz="2400" dirty="0"/>
              <a:t>Once </a:t>
            </a:r>
            <a:r>
              <a:rPr lang="en-IN" sz="2400" dirty="0" err="1"/>
              <a:t>TeXstudio</a:t>
            </a:r>
            <a:r>
              <a:rPr lang="en-IN" sz="2400" dirty="0"/>
              <a:t> is installed, open the application.</a:t>
            </a:r>
          </a:p>
          <a:p>
            <a:pPr>
              <a:buFont typeface="+mj-lt"/>
              <a:buAutoNum type="arabicPeriod"/>
            </a:pPr>
            <a:r>
              <a:rPr lang="en-IN" sz="2400" b="1" dirty="0"/>
              <a:t>Configure the LaTeX Compiler</a:t>
            </a:r>
            <a:r>
              <a:rPr lang="en-IN" sz="2400" dirty="0"/>
              <a:t>:</a:t>
            </a:r>
            <a:br>
              <a:rPr lang="en-IN" sz="2400" dirty="0"/>
            </a:br>
            <a:r>
              <a:rPr lang="en-IN" sz="2400" dirty="0"/>
              <a:t>By default, </a:t>
            </a:r>
            <a:r>
              <a:rPr lang="en-IN" sz="2400" dirty="0" err="1"/>
              <a:t>TeXstudio</a:t>
            </a:r>
            <a:r>
              <a:rPr lang="en-IN" sz="2400" dirty="0"/>
              <a:t> should automatically detect </a:t>
            </a:r>
            <a:r>
              <a:rPr lang="en-IN" sz="2400" dirty="0" err="1"/>
              <a:t>MiKTeX</a:t>
            </a:r>
            <a:r>
              <a:rPr lang="en-IN" sz="2400" dirty="0"/>
              <a:t> as the LaTeX distribution. However, if you want to manually verify or configure the compiler: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/>
              <a:t>Go to </a:t>
            </a:r>
            <a:r>
              <a:rPr lang="en-IN" sz="2000" b="1" dirty="0"/>
              <a:t>Options</a:t>
            </a:r>
            <a:r>
              <a:rPr lang="en-IN" sz="2000" dirty="0"/>
              <a:t> → </a:t>
            </a:r>
            <a:r>
              <a:rPr lang="en-IN" sz="2000" b="1" dirty="0"/>
              <a:t>Configure </a:t>
            </a:r>
            <a:r>
              <a:rPr lang="en-IN" sz="2000" b="1" dirty="0" err="1"/>
              <a:t>TeXstudio</a:t>
            </a:r>
            <a:r>
              <a:rPr lang="en-IN" sz="20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/>
              <a:t>Select </a:t>
            </a:r>
            <a:r>
              <a:rPr lang="en-IN" sz="2000" b="1" dirty="0"/>
              <a:t>Build</a:t>
            </a:r>
            <a:r>
              <a:rPr lang="en-IN" sz="2000" dirty="0"/>
              <a:t> on the left side and ensure that the </a:t>
            </a:r>
            <a:r>
              <a:rPr lang="en-IN" sz="2000" b="1" dirty="0"/>
              <a:t>Default Compiler</a:t>
            </a:r>
            <a:r>
              <a:rPr lang="en-IN" sz="2000" dirty="0"/>
              <a:t> is set to </a:t>
            </a:r>
            <a:r>
              <a:rPr lang="en-IN" sz="2000" dirty="0" err="1"/>
              <a:t>PdfLaTeX</a:t>
            </a:r>
            <a:r>
              <a:rPr lang="en-IN" sz="2000" dirty="0"/>
              <a:t>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IN" sz="2000" dirty="0"/>
              <a:t>You can also choose a different compiler if needed (like </a:t>
            </a:r>
            <a:r>
              <a:rPr lang="en-IN" sz="2000" dirty="0" err="1"/>
              <a:t>XeLaTeX</a:t>
            </a:r>
            <a:r>
              <a:rPr lang="en-IN" sz="2000" dirty="0"/>
              <a:t> or </a:t>
            </a:r>
            <a:r>
              <a:rPr lang="en-IN" sz="2000" dirty="0" err="1"/>
              <a:t>LuaLaTeX</a:t>
            </a:r>
            <a:r>
              <a:rPr lang="en-IN" sz="2000" dirty="0"/>
              <a:t>).</a:t>
            </a:r>
          </a:p>
          <a:p>
            <a:pPr>
              <a:buFont typeface="+mj-lt"/>
              <a:buAutoNum type="arabicPeriod"/>
            </a:pPr>
            <a:r>
              <a:rPr lang="en-IN" sz="2400" b="1" dirty="0"/>
              <a:t>Set the Default Viewer</a:t>
            </a:r>
            <a:r>
              <a:rPr lang="en-IN" sz="2400" dirty="0"/>
              <a:t>:</a:t>
            </a:r>
            <a:br>
              <a:rPr lang="en-IN" sz="2400" dirty="0"/>
            </a:br>
            <a:r>
              <a:rPr lang="en-IN" sz="2400" dirty="0"/>
              <a:t>In the same settings window, under </a:t>
            </a:r>
            <a:r>
              <a:rPr lang="en-IN" sz="2400" b="1" dirty="0"/>
              <a:t>Build</a:t>
            </a:r>
            <a:r>
              <a:rPr lang="en-IN" sz="2400" dirty="0"/>
              <a:t>, make sure the "PDF Viewer" is set to "Internal PDF Viewer" so that you can preview the compiled PDF directly in </a:t>
            </a:r>
            <a:r>
              <a:rPr lang="en-IN" sz="2400" dirty="0" err="1"/>
              <a:t>TeXstudio</a:t>
            </a:r>
            <a:r>
              <a:rPr lang="en-IN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977038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8CB17-1D9F-CF02-6F38-651420FD80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 4: Test the Setup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142A5-67C8-26E9-2712-F2291E50AC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b="1" dirty="0"/>
              <a:t>Create a New LaTeX Document</a:t>
            </a:r>
            <a:r>
              <a:rPr lang="en-IN" sz="2200" dirty="0"/>
              <a:t>:</a:t>
            </a:r>
            <a:br>
              <a:rPr lang="en-IN" sz="2200" dirty="0"/>
            </a:br>
            <a:r>
              <a:rPr lang="en-IN" sz="2200" dirty="0"/>
              <a:t>In </a:t>
            </a:r>
            <a:r>
              <a:rPr lang="en-IN" sz="2200" dirty="0" err="1"/>
              <a:t>TeXstudio</a:t>
            </a:r>
            <a:r>
              <a:rPr lang="en-IN" sz="2200" dirty="0"/>
              <a:t>, go to </a:t>
            </a:r>
            <a:r>
              <a:rPr lang="en-IN" sz="2200" b="1" dirty="0"/>
              <a:t>File</a:t>
            </a:r>
            <a:r>
              <a:rPr lang="en-IN" sz="2200" dirty="0"/>
              <a:t> → </a:t>
            </a:r>
            <a:r>
              <a:rPr lang="en-IN" sz="2200" b="1" dirty="0"/>
              <a:t>New</a:t>
            </a:r>
            <a:r>
              <a:rPr lang="en-IN" sz="2200" dirty="0"/>
              <a:t> to create a new document. Write a simple LaTeX document such as:</a:t>
            </a:r>
          </a:p>
          <a:p>
            <a:pPr marL="0" indent="0">
              <a:buNone/>
            </a:pPr>
            <a:r>
              <a:rPr lang="en-IN" sz="1700" dirty="0"/>
              <a:t>\</a:t>
            </a:r>
            <a:r>
              <a:rPr lang="en-IN" sz="1700" dirty="0" err="1"/>
              <a:t>documentclass</a:t>
            </a:r>
            <a:r>
              <a:rPr lang="en-IN" sz="1700" dirty="0"/>
              <a:t>{article}</a:t>
            </a:r>
          </a:p>
          <a:p>
            <a:pPr marL="0" indent="0">
              <a:buNone/>
            </a:pPr>
            <a:r>
              <a:rPr lang="en-IN" sz="1700" dirty="0"/>
              <a:t> \begin{document} </a:t>
            </a:r>
          </a:p>
          <a:p>
            <a:pPr marL="0" indent="0">
              <a:buNone/>
            </a:pPr>
            <a:r>
              <a:rPr lang="en-IN" sz="1700" dirty="0"/>
              <a:t>Hello, LaTeX on Windows! </a:t>
            </a:r>
          </a:p>
          <a:p>
            <a:pPr marL="0" indent="0">
              <a:buNone/>
            </a:pPr>
            <a:r>
              <a:rPr lang="en-IN" sz="1700" dirty="0"/>
              <a:t>\end{document} </a:t>
            </a:r>
          </a:p>
          <a:p>
            <a:pPr marL="0" indent="0">
              <a:buNone/>
            </a:pPr>
            <a:r>
              <a:rPr lang="en-IN" sz="2200" b="1" dirty="0"/>
              <a:t>Save the Document</a:t>
            </a:r>
            <a:r>
              <a:rPr lang="en-IN" sz="2200" dirty="0"/>
              <a:t>:</a:t>
            </a:r>
            <a:br>
              <a:rPr lang="en-IN" sz="2200" dirty="0"/>
            </a:br>
            <a:r>
              <a:rPr lang="en-IN" sz="2200" dirty="0"/>
              <a:t>Save the document with a .</a:t>
            </a:r>
            <a:r>
              <a:rPr lang="en-IN" sz="2200" dirty="0" err="1"/>
              <a:t>tex</a:t>
            </a:r>
            <a:r>
              <a:rPr lang="en-IN" sz="2200" dirty="0"/>
              <a:t> extension (e.g., </a:t>
            </a:r>
            <a:r>
              <a:rPr lang="en-IN" sz="2200" dirty="0" err="1"/>
              <a:t>test.tex</a:t>
            </a:r>
            <a:r>
              <a:rPr lang="en-IN" sz="2200" dirty="0"/>
              <a:t>).</a:t>
            </a:r>
          </a:p>
          <a:p>
            <a:pPr marL="0" indent="0">
              <a:buNone/>
            </a:pPr>
            <a:r>
              <a:rPr lang="en-IN" sz="2200" b="1" dirty="0"/>
              <a:t>Compile and View the PDF</a:t>
            </a:r>
            <a:r>
              <a:rPr lang="en-IN" sz="2200" dirty="0"/>
              <a:t>:</a:t>
            </a:r>
            <a:br>
              <a:rPr lang="en-IN" sz="2200" dirty="0"/>
            </a:br>
            <a:r>
              <a:rPr lang="en-IN" sz="2200" dirty="0"/>
              <a:t>Press </a:t>
            </a:r>
            <a:r>
              <a:rPr lang="en-IN" sz="2200" b="1" dirty="0"/>
              <a:t>F5</a:t>
            </a:r>
            <a:r>
              <a:rPr lang="en-IN" sz="2200" dirty="0"/>
              <a:t> (or click the "Build &amp; View" button) to compile the document and view the resulting PDF.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289460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B941F9-99C8-E6CD-814B-3745D059A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Step 5: Updating </a:t>
            </a:r>
            <a:r>
              <a:rPr lang="en-IN" b="1" dirty="0" err="1"/>
              <a:t>MiKTeX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2A22-32B5-C540-7A36-5B85E1A1D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lnSpc>
                <a:spcPct val="150000"/>
              </a:lnSpc>
              <a:buNone/>
            </a:pPr>
            <a:r>
              <a:rPr lang="en-IN" dirty="0"/>
              <a:t>It's a good practice to keep </a:t>
            </a:r>
            <a:r>
              <a:rPr lang="en-IN" dirty="0" err="1"/>
              <a:t>MiKTeX</a:t>
            </a:r>
            <a:r>
              <a:rPr lang="en-IN" dirty="0"/>
              <a:t> up to date: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Open </a:t>
            </a:r>
            <a:r>
              <a:rPr lang="en-IN" b="1" dirty="0" err="1"/>
              <a:t>MiKTeX</a:t>
            </a:r>
            <a:r>
              <a:rPr lang="en-IN" b="1" dirty="0"/>
              <a:t> Console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Search for "</a:t>
            </a:r>
            <a:r>
              <a:rPr lang="en-IN" dirty="0" err="1"/>
              <a:t>MiKTeX</a:t>
            </a:r>
            <a:r>
              <a:rPr lang="en-IN" dirty="0"/>
              <a:t> Console" in the Windows Start menu.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b="1" dirty="0"/>
              <a:t>Check for Updates</a:t>
            </a:r>
            <a:r>
              <a:rPr lang="en-IN" dirty="0"/>
              <a:t>:</a:t>
            </a:r>
            <a:br>
              <a:rPr lang="en-IN" dirty="0"/>
            </a:br>
            <a:r>
              <a:rPr lang="en-IN" dirty="0"/>
              <a:t>In the </a:t>
            </a:r>
            <a:r>
              <a:rPr lang="en-IN" dirty="0" err="1"/>
              <a:t>MiKTeX</a:t>
            </a:r>
            <a:r>
              <a:rPr lang="en-IN" dirty="0"/>
              <a:t> Console, click on </a:t>
            </a:r>
            <a:r>
              <a:rPr lang="en-IN" b="1" dirty="0"/>
              <a:t>Updates</a:t>
            </a:r>
            <a:r>
              <a:rPr lang="en-IN" dirty="0"/>
              <a:t> and install any available updates to keep your LaTeX packages up to date.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72505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AFA87A-D811-0D6D-3D0A-24F05D737F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b="1" dirty="0"/>
              <a:t>Step 6: Installing Additional Packages (Optional)</a:t>
            </a:r>
            <a:br>
              <a:rPr lang="en-IN" b="1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69ECD5-7027-3F0C-0548-A4345F21C7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IN" dirty="0"/>
              <a:t>If you need extra LaTeX packages, </a:t>
            </a:r>
            <a:r>
              <a:rPr lang="en-IN" dirty="0" err="1"/>
              <a:t>MiKTeX</a:t>
            </a:r>
            <a:r>
              <a:rPr lang="en-IN" dirty="0"/>
              <a:t> can install them automatically when compiling a document that uses them. Alternatively, you can manually install packages through the </a:t>
            </a:r>
            <a:r>
              <a:rPr lang="en-IN" dirty="0" err="1"/>
              <a:t>MiKTeX</a:t>
            </a:r>
            <a:r>
              <a:rPr lang="en-IN" dirty="0"/>
              <a:t> Console: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Open the </a:t>
            </a:r>
            <a:r>
              <a:rPr lang="en-IN" b="1" dirty="0" err="1"/>
              <a:t>MiKTeX</a:t>
            </a:r>
            <a:r>
              <a:rPr lang="en-IN" b="1" dirty="0"/>
              <a:t> Console</a:t>
            </a:r>
            <a:r>
              <a:rPr lang="en-IN" dirty="0"/>
              <a:t>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Navigate to </a:t>
            </a:r>
            <a:r>
              <a:rPr lang="en-IN" b="1" dirty="0"/>
              <a:t>Packages</a:t>
            </a:r>
            <a:r>
              <a:rPr lang="en-IN" dirty="0"/>
              <a:t>.</a:t>
            </a:r>
          </a:p>
          <a:p>
            <a:pPr lvl="1">
              <a:lnSpc>
                <a:spcPct val="150000"/>
              </a:lnSpc>
              <a:buFont typeface="+mj-lt"/>
              <a:buAutoNum type="arabicPeriod"/>
            </a:pPr>
            <a:r>
              <a:rPr lang="en-IN" dirty="0"/>
              <a:t>Search for the package you need and click </a:t>
            </a:r>
            <a:r>
              <a:rPr lang="en-IN" b="1" dirty="0"/>
              <a:t>Install</a:t>
            </a:r>
            <a:r>
              <a:rPr lang="en-IN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4283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</TotalTime>
  <Words>1594</Words>
  <Application>Microsoft Macintosh PowerPoint</Application>
  <PresentationFormat>Widescreen</PresentationFormat>
  <Paragraphs>126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8" baseType="lpstr">
      <vt:lpstr>Aptos</vt:lpstr>
      <vt:lpstr>Aptos Display</vt:lpstr>
      <vt:lpstr>Arial</vt:lpstr>
      <vt:lpstr>Office Theme</vt:lpstr>
      <vt:lpstr>PowerPoint Presentation</vt:lpstr>
      <vt:lpstr>Technical Writing using LaTeX</vt:lpstr>
      <vt:lpstr>Git Repository</vt:lpstr>
      <vt:lpstr>PowerPoint Presentation</vt:lpstr>
      <vt:lpstr>Key Features of LaTeX:</vt:lpstr>
      <vt:lpstr>Key Features of LaTeX:</vt:lpstr>
      <vt:lpstr>Key Features of LaTeX:</vt:lpstr>
      <vt:lpstr>Key Features of LaTeX:</vt:lpstr>
      <vt:lpstr>Key Features of LaTeX:</vt:lpstr>
      <vt:lpstr>How LaTeX Works:</vt:lpstr>
      <vt:lpstr>How LaTeX Works:</vt:lpstr>
      <vt:lpstr>Common Uses of LaTeX: </vt:lpstr>
      <vt:lpstr>Why Use LaTeX?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Step 1: Update the System</vt:lpstr>
      <vt:lpstr>Step 2: Install TeX Live (LaTeX Distribution)</vt:lpstr>
      <vt:lpstr>Step 2: Install TeX Live (LaTeX Distribution)</vt:lpstr>
      <vt:lpstr>Step 3: Install TeXstudio</vt:lpstr>
      <vt:lpstr>Step 4: Verify the Installation</vt:lpstr>
      <vt:lpstr>Step 5: Configure TeXstudio</vt:lpstr>
      <vt:lpstr>Step 6: Test the Installation</vt:lpstr>
      <vt:lpstr>Step 6: Test the Installation</vt:lpstr>
      <vt:lpstr>PowerPoint Presentation</vt:lpstr>
      <vt:lpstr>PowerPoint Presentation</vt:lpstr>
      <vt:lpstr>Step 1: Download and Install MiKTeX (LaTeX Distribution)</vt:lpstr>
      <vt:lpstr>Step 2: Download and Install TeXstudio (LaTeX Editor)</vt:lpstr>
      <vt:lpstr>Step 3: Configure TeXstudio with MiKTeX</vt:lpstr>
      <vt:lpstr>Step 4: Test the Setup </vt:lpstr>
      <vt:lpstr>Step 5: Updating MiKTeX </vt:lpstr>
      <vt:lpstr>Step 6: Installing Additional Packages (Optional)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Manoj Kumar M V</dc:creator>
  <cp:lastModifiedBy>Manoj Kumar M V</cp:lastModifiedBy>
  <cp:revision>2</cp:revision>
  <dcterms:created xsi:type="dcterms:W3CDTF">2024-09-25T04:41:49Z</dcterms:created>
  <dcterms:modified xsi:type="dcterms:W3CDTF">2024-09-25T05:52:40Z</dcterms:modified>
</cp:coreProperties>
</file>